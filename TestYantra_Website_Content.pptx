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 ENGINEERING REDEFINED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Accelerate Quality.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Ship with Confidence.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5D0E0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AI-augmented quality engineering and testing services that help enterprises build better software, faster — from code to production.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337560"/>
            <a:ext cx="160020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160020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50215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217+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8912" y="399592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Clients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75688" y="3337560"/>
            <a:ext cx="160020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3337560"/>
            <a:ext cx="160020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50215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48840" y="399592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Years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85616" y="3337560"/>
            <a:ext cx="160020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3337560"/>
            <a:ext cx="160020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350215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3,200+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58768" y="399592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Professionals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5544" y="3337560"/>
            <a:ext cx="160020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5544" y="3337560"/>
            <a:ext cx="160020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350215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68696" y="399592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Global Locations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05472" y="3337560"/>
            <a:ext cx="160020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472" y="3337560"/>
            <a:ext cx="160020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3502152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78624" y="3995928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Industries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WHAT WE DELIVER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Five Practice Areas. One Embedded Partner.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609344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1609344" cy="54864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87452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Assurance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" y="260604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End-to-end validation of software behaviour, user journeys, and business outcomes.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83664" y="1143000"/>
            <a:ext cx="1609344" cy="3291840"/>
          </a:xfrm>
          <a:prstGeom prst="rect">
            <a:avLst/>
          </a:prstGeom>
          <a:solidFill>
            <a:srgbClr val="EDF0F7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83664" y="1143000"/>
            <a:ext cx="1609344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75104" y="187452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993392" y="260604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Shift-left engineering practices, automation, and performance built into the SDLC.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584448" y="1143000"/>
            <a:ext cx="1609344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84448" y="1143000"/>
            <a:ext cx="1609344" cy="54864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371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75888" y="187452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 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94176" y="260604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 AI systems and deploy AI to supercharge your testing operations.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285232" y="1143000"/>
            <a:ext cx="1609344" cy="3291840"/>
          </a:xfrm>
          <a:prstGeom prst="rect">
            <a:avLst/>
          </a:prstGeom>
          <a:solidFill>
            <a:srgbClr val="EDF0F7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85232" y="1143000"/>
            <a:ext cx="1609344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3716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187452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94960" y="260604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Quality-first software development aligned to your engineering standards and delivery cadence.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986016" y="1143000"/>
            <a:ext cx="1609344" cy="329184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86016" y="1143000"/>
            <a:ext cx="1609344" cy="54864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137160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77456" y="187452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DevOps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095744" y="260604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CI/CD pipeline integration, release governance, and production observability.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SERVICE CATALOGUE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Comprehensive. Specialized. At Every Layer of Quality.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End-to-End Testing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550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 Automation Engineering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48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Load Testing &amp; App Performance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569464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CX Testing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Accessibility Testing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355848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API / Microservices Testing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210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ETL / Data Warehouse Testing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37760" y="1389888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IoT Testing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37760" y="1783080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6550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Package Application Testing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0" y="2176272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048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Service Virtualisation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37760" y="2569464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UAT &amp; Business Assurance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37760" y="2962656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Mobile App Testing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37760" y="3355848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227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Device &amp; Embedded Testing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37760" y="3749040"/>
            <a:ext cx="91440" cy="91440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6210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E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Cloud Assurance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09160" y="1261872"/>
            <a:ext cx="0" cy="2752344"/>
          </a:xfrm>
          <a:prstGeom prst="line">
            <a:avLst/>
          </a:prstGeom>
          <a:noFill/>
          <a:ln w="12700">
            <a:solidFill>
              <a:srgbClr val="2A447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 Assurance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Validate every dimension of your software — from functional correctness to user experience, accessibility, and data integrity.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8013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Functional, System &amp; E2E Testing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212140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Full-coverage testing across user journeys, integrations, and system boundaries.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737360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737360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8013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UAT &amp; Business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2696" y="212140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Stakeholder-aligned acceptance testing that confirms business rules behave as expected.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737360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80136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Exploratory Testing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63056" y="212140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Charter-driven investigation to uncover defects automated scripts miss.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07208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07208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871216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UX / UI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" y="31912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Cross-browser, cross-device validation of interfaces and user experience flows.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807208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807208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871216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Accessibility 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82696" y="31912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WCAG 2.1 / ADA compliance testing for inclusive digital experiences.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807208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807208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871216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Data Assurance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3191256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Data completeness, accuracy, and lineage validation across pipelines and systems.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77056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877056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94106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Load &amp; Performance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2336" y="426110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Scalability benchmarks, stress tests, and bottleneck analysis under real-world load.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54680" y="3877056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3877056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394106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IV&amp;V — Independent Validation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82696" y="426110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Objective, third-party verification of critical systems and regulated environments.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3877056"/>
            <a:ext cx="274320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877056"/>
            <a:ext cx="54864" cy="9601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394106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Package &amp; Enterprise App Assurance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63056" y="4261104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Specialised testing for SAP, Salesforce, Oracle, and other packaged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Embed quality into the engineering lifecycle — not as a gate, but as a built-in capability that accelerates delivery.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API / Microservices Testing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228600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Contract, integration, and end-to-end API testing at every layer of your service mesh.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82880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82880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Component &amp; Unit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2696" y="228600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Developer-side quality gates that surface defects before code ever leaves the branch.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82880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9202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 Automation 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63056" y="228600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Playwright, Selenium, and custom framework builds — with IP-led accelerators for faster stand-up.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15468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2461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Performance Engineering &amp; SRE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" y="36118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Reliability engineering, SLA monitoring, and load strategy across cloud-native architectures.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315468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315468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32461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Service Virtualisation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82696" y="36118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Simulate dependent services to enable parallel testing in decoupled, distributed environments.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154680"/>
            <a:ext cx="274320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154680"/>
            <a:ext cx="54864" cy="118872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24612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Production Monitoring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36118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Synthetic monitors, real-user monitoring, and observability integrations for always-on quality.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Production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Quality doesn't stop at release. We monitor production environments so your users never feel the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572768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1572768" cy="45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517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Synthetic Monitoring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3291840"/>
            <a:ext cx="1353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Proactive 24/7 scripted checks that simulate user journeys before customers encounter issues.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02536" y="1828800"/>
            <a:ext cx="1572768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2536" y="1828800"/>
            <a:ext cx="1572768" cy="45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574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93976" y="26517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Production Support — L1, L2, L3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12264" y="3291840"/>
            <a:ext cx="1353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Tiered incident response from first-line triage through to root-cause analysis and resolution.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85032" y="1828800"/>
            <a:ext cx="1572768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85032" y="1828800"/>
            <a:ext cx="1572768" cy="45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2057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76472" y="26517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794760" y="3291840"/>
            <a:ext cx="1353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End-to-end tracing, log aggregation, and metric correlation across distributed systems.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367528" y="1828800"/>
            <a:ext cx="1572768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67528" y="1828800"/>
            <a:ext cx="1572768" cy="45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0574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58968" y="26517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Incident Management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77256" y="3291840"/>
            <a:ext cx="1353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Structured incident lifecycle from detection to post-mortem, aligned with your ITSM workflows.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050024" y="1828800"/>
            <a:ext cx="1572768" cy="274320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050024" y="1828800"/>
            <a:ext cx="1572768" cy="45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0574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1464" y="26517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Real User Monitoring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159752" y="3291840"/>
            <a:ext cx="1353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Capture actual user behaviour, performance, and errors in production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ENGAGEMENT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Team Models — Built Around How You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Whether you need to scale a team fast, build a Centre of Excellence, or extend your bench with specialist skills — we flex to your operating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" y="1920240"/>
            <a:ext cx="640080" cy="640080"/>
          </a:xfrm>
          <a:prstGeom prst="ellipse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01168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7432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880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Managed POD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" y="333756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 self-contained, cross-functional quality team with defined scope, governance, and delivery SLAs — fully managed by TestYantra.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27832" y="1920240"/>
            <a:ext cx="640080" cy="640080"/>
          </a:xfrm>
          <a:prstGeom prst="ellipse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01168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6032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0" y="27432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51760" y="2880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Centre of Excellence (CoE)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70048" y="333756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Build an internal QE CoE with our expertise, tooling blueprints, and leadership — anchored to your enterprise standards.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22392" y="1920240"/>
            <a:ext cx="640080" cy="640080"/>
          </a:xfrm>
          <a:prstGeom prst="ellipse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201168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7432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46320" y="2880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Role-Based Staffing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64608" y="333756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Precision placement of QA and QE professionals — manual testers, automation engineers, architects, or performance specialists.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616952" y="1920240"/>
            <a:ext cx="640080" cy="640080"/>
          </a:xfrm>
          <a:prstGeom prst="ellipse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011680"/>
            <a:ext cx="457200" cy="457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94944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949440" y="27432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040880" y="28803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Global Delivery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59168" y="333756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Onshore, offshore, and nearshore delivery combinations optimised for time zones, cost, and communication quality.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ENGAGEMENT MODELS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Delivery Models — Commercial Flexibility at Every Scale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Six commercial models designed for enterprise agility — from outcome-based engagements to full managed operations.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87752" y="1764792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764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" y="1783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Managed Services / Teams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" y="214884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Fully accountable quality operations with defined KPIs, reporting, and continuous improvement built 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91640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22392" y="1764792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1764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1783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Project as a Service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82696" y="214884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Fixed-scope, outcome-based engagements — TestYantra owns the delivery, you own the outcome.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691640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691640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1764792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764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17336" y="1783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Build, Operate &amp; Transfer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17336" y="214884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We stand up your QE capability, run it to maturity, then transfer knowledge and ownership to your team.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044952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44952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87752" y="3118104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" y="31363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Co-Managed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" y="3502152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Shared model where TestYantra supplements and elevates your existing QA team with specialist skills and governance.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3044952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044952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22392" y="3118104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82696" y="31363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Crowd Services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82696" y="3502152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On-demand access to a global tester network for real-device coverage, UAT scale, and exploratory depth.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3044952"/>
            <a:ext cx="2651760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044952"/>
            <a:ext cx="54864" cy="118872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3118104"/>
            <a:ext cx="292608" cy="292608"/>
          </a:xfrm>
          <a:prstGeom prst="ellipse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5703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17336" y="31363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Audit &amp; Advisory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17336" y="3502152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Independent QA maturity assessments, framework audits, and strategic recommendations from senior QE practitioners.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TESTYANTRA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 at the Centre of Quality.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Two distinct, high-value capabilities — testing AI systems with rigour, and deploying AI to transform how you test.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260604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57400"/>
            <a:ext cx="40233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LANE 01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103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Testing the AI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0352" y="30632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Validate your AI systems for model accuracy, data drift, bias, and responsible output — before your customers find out.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00600" y="2057400"/>
            <a:ext cx="4023360" cy="260604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2057400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LANE 02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65192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 in Testing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965192" y="30632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Augment your testing operations with AI-powered frameworks, agentic automation, and intelligent test lifecycle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TESTYANTRA AI  ·  LANE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Testing the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As AI systems proliferate, so does the cost of getting them wrong. We bring structured, independent validation to your models, agents, and AI-driven products.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965960" cy="91440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057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28346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Model Validation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9768" y="33375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Evaluate model accuracy, precision, recall, and confidence thresholds against ground truth before production rollout.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1828800"/>
            <a:ext cx="1965960" cy="91440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18288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0574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36392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51460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24328" y="28346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Drift &amp; Monitoring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624328" y="33375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Detect data drift, concept drift, and performance degradation in live AI systems before they impact business outcomes.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09160" y="1828800"/>
            <a:ext cx="1965960" cy="91440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09160" y="18288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05740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30952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0916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18888" y="28346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Bias &amp; Fairness Validation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818888" y="33375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Audit model outputs for demographic bias, disparate impact, and fairness compliance across regulated use cases.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903720" y="1828800"/>
            <a:ext cx="1965960" cy="91440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03720" y="1828800"/>
            <a:ext cx="1965960" cy="54864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05740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25512" y="2103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Gen AI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903720" y="2743200"/>
            <a:ext cx="19659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13448" y="283464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LLM &amp; Gen AI Validation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013448" y="33375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Prompt injection testing, RAG pipeline validation, hallucination benchmarking, and output safety evaluation for generative AI systems.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TESTYANTRA AI  ·  LANE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 in Testing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Intelligent automation. Agentic workflows. AI-trained talent. We embed AI into your testing operations to cut cycle time, increase coverage, and future-proof your QE capability.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3977640" cy="150876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28800"/>
            <a:ext cx="54864" cy="150876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38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AI-Powered Framework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Playwright + MCP + Custom Agent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" y="25420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Self-healing, context-aware test automation built on Playwright, Model Context Protocol, and TestYantra's proprietary agent layer — reducing maintenance overhead by up to 60%.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828800"/>
            <a:ext cx="3977640" cy="150876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828800"/>
            <a:ext cx="54864" cy="150876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938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Framework Migration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12080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Legacy to Modern Stack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212080" y="25420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AI-assisted migration from legacy automation frameworks (Selenium, UFT, Tosca) to modern, maintainable stacks — with zero loss of test coverage.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502152"/>
            <a:ext cx="3977640" cy="150876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3502152"/>
            <a:ext cx="54864" cy="150876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050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Agentic Suite Integration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6012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Full Lifecycle Automation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960120" y="421538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Orchestrated AI agents that span requirements analysis, test design, execution, defect triage, and reporting — reducing human-in-loop effort across the test lifecycle.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0" y="3502152"/>
            <a:ext cx="3977640" cy="1508760"/>
          </a:xfrm>
          <a:prstGeom prst="rect">
            <a:avLst/>
          </a:prstGeom>
          <a:solidFill>
            <a:srgbClr val="1E3A6E"/>
          </a:solidFill>
          <a:ln w="12700">
            <a:solidFill>
              <a:srgbClr val="243E7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0" y="3502152"/>
            <a:ext cx="54864" cy="1508760"/>
          </a:xfrm>
          <a:prstGeom prst="rect">
            <a:avLst/>
          </a:prstGeom>
          <a:solidFill>
            <a:srgbClr val="F8981C"/>
          </a:solidFill>
          <a:ln w="12700">
            <a:solidFill>
              <a:srgbClr val="F8981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0050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AI Training for Talent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21208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981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Workforce Enablement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212080" y="421538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  <a:latin typeface="Ubuntu" pitchFamily="34" charset="0"/>
                <a:ea typeface="Ubuntu" pitchFamily="34" charset="-122"/>
                <a:cs typeface="Ubuntu" pitchFamily="34" charset="-120"/>
              </a:rPr>
              <a:t>Structured upskilling programmes that equip your QA teams to adopt AI-native tools, prompting techniques, and agentic workflows — closing the AI skills gap from within.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TestYantra Website Content</dc:title>
  <dc:subject>PptxGenJS Presentation</dc:subject>
  <dc:creator>PptxGenJS</dc:creator>
  <cp:lastModifiedBy>PptxGenJS</cp:lastModifiedBy>
  <cp:revision>1</cp:revision>
  <dcterms:created xsi:type="dcterms:W3CDTF">2026-06-01T13:10:02Z</dcterms:created>
  <dcterms:modified xsi:type="dcterms:W3CDTF">2026-06-01T13:10:02Z</dcterms:modified>
</cp:coreProperties>
</file>